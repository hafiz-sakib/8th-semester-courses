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460: Pattern Recognition Laboratory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Cassava Leaf Disease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Using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EfficientNetV2-M · Hybrid Sampling · Progressive Fine-Tuning · TTA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566160"/>
            <a:ext cx="5303520" cy="10058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363931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Hafizur Rahman Sakib  </a:t>
            </a:r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ID: 0222210005101118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Ikramul Hoque  </a:t>
            </a:r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ID: 0222210005101139  |  8th Semester (C)  |  Fall 2025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Avishek Chowdhury, Lecturer — Dept. of CSE, Premier University, Chattogram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3566160"/>
          </a:xfrm>
          <a:prstGeom prst="rect">
            <a:avLst/>
          </a:prstGeom>
          <a:solidFill>
            <a:srgbClr val="EFF5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Cassava feeds 800M+ people across Africa, Asia &amp; Latin America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diseases can destroy 20–100% of crop yield if undetected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by agronomists is slow, costly &amp; limited in rural regions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of plant pathologists in sub-Saharan Africa &amp; SE Asia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06240" cy="3566160"/>
          </a:xfrm>
          <a:prstGeom prst="rect">
            <a:avLst/>
          </a:prstGeom>
          <a:solidFill>
            <a:srgbClr val="EFF5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1463040"/>
            <a:ext cx="3886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Smartphone-deployable deep learning classifier for field use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Five-class recognition: 4 diseases + Healthy leaf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EfficientNetV2-M pretrained on ImageNet-21k (52.8M params)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UN SDG 2: Zero Hunger &amp; precision agriculture goals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736592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Automate cassava disease detection · Replace slow manual inspection · Enable early intervention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40080"/>
          </a:xfrm>
          <a:prstGeom prst="rect">
            <a:avLst/>
          </a:prstGeom>
          <a:solidFill>
            <a:srgbClr val="F0F4E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Crop Disease Dataset (iCassava) · 17,938 usable images · Real field conditions, Uganda · JPEG format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54480"/>
          <a:ext cx="8503920" cy="2926080"/>
        </p:xfrm>
        <a:graphic>
          <a:graphicData uri="http://schemas.openxmlformats.org/drawingml/2006/table">
            <a:tbl>
              <a:tblPr/>
              <a:tblGrid>
                <a:gridCol w="457200"/>
                <a:gridCol w="2834640"/>
                <a:gridCol w="1371600"/>
                <a:gridCol w="914400"/>
                <a:gridCol w="1371600"/>
                <a:gridCol w="146304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Cassava Bacterial Blight (CBB)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Oversampled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Cassava Brown Streak Disease (CBSD)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Oversampled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Cassava Green Mottle (CGM)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Cassava Mosaic Disease (CMD)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Undersampled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Undersampled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17,938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736592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12:1 imbalance ratio (CMD vs CBB) · Addressed via Hybrid Sampling strategy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82296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1691640" cy="132588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84048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260×260 px RGB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" y="15727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normalisation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11680" y="1627632"/>
            <a:ext cx="50292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94560" y="960120"/>
            <a:ext cx="1691640" cy="13258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258568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EfficientNetV2-M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58568" y="15727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ImageNet-21k pretrain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52.8M parameters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86200" y="1627632"/>
            <a:ext cx="50292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69080" y="960120"/>
            <a:ext cx="1691640" cy="13258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33088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33088" y="15727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→ BN → Drop(0.3)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FC(5)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60720" y="1627632"/>
            <a:ext cx="50292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960120"/>
            <a:ext cx="1691640" cy="1325880"/>
          </a:xfrm>
          <a:prstGeom prst="rect">
            <a:avLst/>
          </a:prstGeom>
          <a:solidFill>
            <a:srgbClr val="1A2E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07608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Output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07608" y="15727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CBB · CBSD · CGM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· Healthy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2514600"/>
            <a:ext cx="8503920" cy="1005840"/>
          </a:xfrm>
          <a:prstGeom prst="rect">
            <a:avLst/>
          </a:prstGeom>
          <a:solidFill>
            <a:srgbClr val="EFF5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0292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EfficientNetV2-M?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28986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260px input preserves fine-grained leaf texture details  ·  </a:t>
            </a:r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ImageNet-21k pretraining offers richer feature initialisation vs ImageNet-1k  ·  </a:t>
            </a:r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balances accuracy &amp; efficiency for moderate dataset size  ·  </a:t>
            </a:r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RexNet-150 (9M params) for superior capacity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20040" y="3703320"/>
            <a:ext cx="2011680" cy="7772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114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Depth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drop_path = 0.2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514600" y="3703320"/>
            <a:ext cx="2011680" cy="7772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60604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(Head)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60604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0.3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09160" y="3703320"/>
            <a:ext cx="2011680" cy="7772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80060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80060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0.05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03720" y="3703320"/>
            <a:ext cx="2011680" cy="7772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99516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99516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4736592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Parameters: 52,864,761  ·  Input: 260×260 px  ·  Pretrained on ImageNet-21k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Training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74904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1–8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468880" cy="0"/>
          </a:xfrm>
          <a:prstGeom prst="line">
            <a:avLst/>
          </a:prstGeom>
          <a:noFill/>
          <a:ln w="12700">
            <a:solidFill>
              <a:srgbClr val="1E3A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Only (Backbone Frozen)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LR: 5e-4  |  OneCycleLR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 converges without disturbing pretrained backbone weights. MixUp/CutMix disabled.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41605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0.4043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2743200" cy="37490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822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37560" y="11887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9–19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508760"/>
            <a:ext cx="24688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54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Blocks + Head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LR: 2e-4  |  OneCycleLR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5146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partially unfrozen. MixUp (α=0.4) &amp; CutMix (α=1.0) enabled. Largest gain: +0.19 F1 at epoch 11.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41605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0.7701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777240"/>
            <a:ext cx="2743200" cy="37490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822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63640" y="11887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20–29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508760"/>
            <a:ext cx="24688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554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(Differential LR)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64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5e-6 | Head 5e-5 | CosineAnneal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5146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fine-tuning. 10× lower LR on backbone prevents catastrophic forgetting of pretrained features.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41605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0.7830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736592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saved based on validation macro F1-score across all 30 epochs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 &amp; Loss Function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846320" cy="3749040"/>
          </a:xfrm>
          <a:prstGeom prst="rect">
            <a:avLst/>
          </a:prstGeom>
          <a:solidFill>
            <a:srgbClr val="EFF5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Transforms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709160" cy="3072384"/>
        </p:xfrm>
        <a:graphic>
          <a:graphicData uri="http://schemas.openxmlformats.org/drawingml/2006/table">
            <a:tbl>
              <a:tblPr/>
              <a:tblGrid>
                <a:gridCol w="1965960"/>
                <a:gridCol w="2743200"/>
              </a:tblGrid>
              <a:tr h="341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 + Random Crop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292×292 → 260×260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H-Flip / V-Flip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0.5 / p = 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Rotation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30°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Jitter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brightness, contrast, saturation, hue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RandAugment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num_ops=2, magnitude=9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Erasing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p=0.3, scale [0.02, 0.15]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MixUp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α=0.4, p=0.35 — Phase 2+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CutMix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α=1.0, p=0.35 — Phase 2+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49240" y="804672"/>
            <a:ext cx="3474720" cy="3749040"/>
          </a:xfrm>
          <a:prstGeom prst="rect">
            <a:avLst/>
          </a:prstGeom>
          <a:solidFill>
            <a:srgbClr val="EFF5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0" y="8778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1325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FL(pt) = −αt (1 − pt)^γ · log(pt)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40680" y="1920240"/>
            <a:ext cx="3291840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2011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2  ·  Label Smoothing ε = 0.05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256032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easy examples, concentrating gradient on hard misclassified samples.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beneficial for minority class CBB (only 921 original images) — model focuses on difficult boundary cases rather than majority-class dominance.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736592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TTA: 5 deterministic views per image — Centre resize, H-Flip, Centre Crop (292px), V-Flip, Centre Crop (324px) → average logits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&amp;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155448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4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@ Epoch 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0.4043  ·  Acc: 0.4080  ·  Loss: 2.7573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15544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822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4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@ Epoch 19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0.7701  ·  Acc: 0.7699  ·  Loss: 0.4069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777240"/>
            <a:ext cx="2743200" cy="15544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822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4E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@ Epoch 29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0.7830  ·  Acc: 0.7819  ·  Loss: 0.3976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514600"/>
            <a:ext cx="8503920" cy="73152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14600"/>
            <a:ext cx="137160" cy="7315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78608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Largest single gain (+0.19 F1) at epoch 11 — transition to Phase 2 — when backbone unfreezing and MixUp/CutMix augmentation were introduced simultaneously.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37560"/>
          <a:ext cx="8503920" cy="128016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2011680"/>
                <a:gridCol w="2011680"/>
                <a:gridCol w="22860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4736592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29 · Val F1 = 0.7830 · Val Accuracy = 78.19%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Classification Results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2331720"/>
        </p:xfrm>
        <a:graphic>
          <a:graphicData uri="http://schemas.openxmlformats.org/drawingml/2006/table">
            <a:tbl>
              <a:tblPr/>
              <a:tblGrid>
                <a:gridCol w="3474720"/>
                <a:gridCol w="1371600"/>
                <a:gridCol w="1371600"/>
                <a:gridCol w="1371600"/>
                <a:gridCol w="914400"/>
              </a:tblGrid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Cassava Bacterial Blight (CBB)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Cassava Brown Streak Disease (CBSD)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Cassava Green Mottle (CGM)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Cassava Mosaic Disease (CMD)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246120"/>
            <a:ext cx="2761488" cy="1298448"/>
          </a:xfrm>
          <a:prstGeom prst="rect">
            <a:avLst/>
          </a:prstGeom>
          <a:solidFill>
            <a:srgbClr val="EFF5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3246120"/>
            <a:ext cx="109728" cy="12984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" y="3291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— Best (F1: 0.87)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21208" y="36758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abundance means most diverse training examples. Visually distinctive mosaic patterns make it the most separable class.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4408" y="3246120"/>
            <a:ext cx="2761488" cy="1298448"/>
          </a:xfrm>
          <a:prstGeom prst="rect">
            <a:avLst/>
          </a:prstGeom>
          <a:solidFill>
            <a:srgbClr val="EFF5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64408" y="3246120"/>
            <a:ext cx="109728" cy="12984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3465576" y="3291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CBB — Strong Recall (0.84)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465576" y="36758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minority-class recall despite only 921 original images. Validates hybrid oversampling + Focal Loss for minority-class sensitivity.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08776" y="3246120"/>
            <a:ext cx="2761488" cy="1298448"/>
          </a:xfrm>
          <a:prstGeom prst="rect">
            <a:avLst/>
          </a:prstGeom>
          <a:solidFill>
            <a:srgbClr val="EFF5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08776" y="3246120"/>
            <a:ext cx="109728" cy="12984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9944" y="3291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— Most Difficult (F1: 0.69)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9944" y="36758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precision (0.66) — model misclassifies mildly infected leaves as healthy. Early-stage disease visually overlaps with normal leaf variation.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36592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TTA: With = 78.25% Macro F1  ·  Without = 78.30% Macro F1  ·  Both: 78.19% Accuracy  ·  Difference: −0.05 pp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Analysis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502920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713232"/>
                <a:gridCol w="713232"/>
                <a:gridCol w="713232"/>
                <a:gridCol w="713232"/>
                <a:gridCol w="7132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\ Predicted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E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EB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EB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E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3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777240"/>
            <a:ext cx="3337560" cy="3200400"/>
          </a:xfrm>
          <a:prstGeom prst="rect">
            <a:avLst/>
          </a:prstGeom>
          <a:solidFill>
            <a:srgbClr val="EFF5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8412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23560" y="1261872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(0.87 diagonal) — strongest class, most distinct visual signature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most confused with CBB (0.14) &amp; CGM (0.11) — early symptoms mimic healthy leaves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CBSD ↔ CGM off-diagonal — visual overlap between these two diseases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CBB recall 0.84 — excellent for a minority class (original: 921 images)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solidFill>
            <a:srgbClr val="F0F4EC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18795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rows = true labels, columns = predicted labels (normalised, n=1,495, TTA applied)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4736592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Healthy class is the #1 priority for future work — visual ambiguity with mildly infected samples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920240" cy="11430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60934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TTA)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960120"/>
            <a:ext cx="1920240" cy="11430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51760" y="160934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1920240" cy="11430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00600" y="160934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 F1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(CMD)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960120"/>
            <a:ext cx="1920240" cy="11430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49440" y="160934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2 jump)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23774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359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276148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EfficientNetV2-M + Hybrid Sampling + 3-Phase Fine-Tuning + MixUp/CutMix + TTA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severe 12:1 class imbalance effectively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≈213 MB — smartphone deployable in principle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framework adaptable for other plant diseases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304288"/>
            <a:ext cx="4160520" cy="2377440"/>
          </a:xfrm>
          <a:prstGeom prst="rect">
            <a:avLst/>
          </a:prstGeom>
          <a:solidFill>
            <a:srgbClr val="1A3D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276148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EfficientNetV2-L or Swin Transformer for higher accuracy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learning — leverage 3,459 filtered images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classification for co-occurring diseases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→ MobileNetV3 for real-time on-device deployment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3717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University, Chattogram  ·  CSE 460: Pattern Recognition Lab  ·  Fall 2025  ·  Mohammad Hafizur Rahman Sakib &amp; Ikramul Hoque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Cassava Leaf Disease Classification</dc:title>
  <dc:subject>PptxGenJS Presentation</dc:subject>
  <dc:creator>PptxGenJS</dc:creator>
  <cp:lastModifiedBy>PptxGenJS</cp:lastModifiedBy>
  <cp:revision>1</cp:revision>
  <dcterms:created xsi:type="dcterms:W3CDTF">2026-05-22T08:08:51Z</dcterms:created>
  <dcterms:modified xsi:type="dcterms:W3CDTF">2026-05-22T08:08:51Z</dcterms:modified>
</cp:coreProperties>
</file>